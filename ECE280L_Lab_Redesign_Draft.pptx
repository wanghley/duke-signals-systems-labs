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477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9863"/>
            <a:ext cx="228600" cy="51435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2011680" cy="411480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280L  ·  Duke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Curriculum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9077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to a Hardware-First, LLM-Resistant Lab Curriculum</a:t>
            </a:r>
            <a:endParaRPr lang="en-U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456432"/>
            <a:ext cx="7315200" cy="365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35844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TRIAL DRAFT</a:t>
            </a: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rgbClr val="8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Wanghley Soares Martins ·   Signals &amp; Systems</a:t>
            </a:r>
            <a:endParaRPr lang="en-US" sz="1200" dirty="0"/>
          </a:p>
        </p:txBody>
      </p:sp>
      <p:pic>
        <p:nvPicPr>
          <p:cNvPr id="1028" name="Picture 4" descr="Home - The Sacred Arts of the Black Atlantic">
            <a:extLst>
              <a:ext uri="{FF2B5EF4-FFF2-40B4-BE49-F238E27FC236}">
                <a16:creationId xmlns:a16="http://schemas.microsoft.com/office/drawing/2014/main" id="{1CD7AF39-61A4-A2E5-E088-7FCB4B87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900" y="374859"/>
            <a:ext cx="1637180" cy="676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84048" cy="384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152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34416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with the MATLAB-only lab approach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682496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691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88366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Hardware-first pedagogy using Arduino + MATLAB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221992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2311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Curriculum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42316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comparison: old vs. new lab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761488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2770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LLM-Proofing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296265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of academic integrity enforcement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300984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310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Rubric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35021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hardware per bench and updated grading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840480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384962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 Impact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04164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 labs reinforce lecture and course objectives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4379976"/>
            <a:ext cx="384048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" y="43891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58114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questions, timeline, and action items</a:t>
            </a:r>
            <a:endParaRPr lang="en-US" sz="1100" dirty="0"/>
          </a:p>
        </p:txBody>
      </p:sp>
      <p:pic>
        <p:nvPicPr>
          <p:cNvPr id="2050" name="Picture 2" descr="Duke University Logo PNG Vector (EPS) Free Download">
            <a:extLst>
              <a:ext uri="{FF2B5EF4-FFF2-40B4-BE49-F238E27FC236}">
                <a16:creationId xmlns:a16="http://schemas.microsoft.com/office/drawing/2014/main" id="{0E799701-A0AE-B59B-F7A2-6C41C4496D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268" y="4309672"/>
            <a:ext cx="833828" cy="833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Change?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pressures demand a redesign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697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Proliferation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6367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MATLAB-only labs are trivially solved by ChatGPT, Claude, and Copilot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4632" y="250545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and lab reports can be auto-generated without any real understanding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violations are extremely difficult to detect in code-only submissions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36392" y="1143000"/>
            <a:ext cx="269748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36392" y="1143000"/>
            <a:ext cx="2697480" cy="384048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27832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Theory–Practice Gap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00984" y="16367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never touch physical circuits—all signals are simulated, not measured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00984" y="250545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noise, component tolerances, and non-ideal behavior are invisible in MATLAB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00984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do not reinforce the hardware intuition needed in upper-level ECE courses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52744" y="1143000"/>
            <a:ext cx="2697480" cy="3566160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952744" y="1143000"/>
            <a:ext cx="2697480" cy="3840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44184" y="1188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Benchmarking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17336" y="163677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 ECE 2026: hardware DSP with real-time audio processing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117336" y="250545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6.003 / 6.007: op-amp filter labs and physical sampling demos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17336" y="3374136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University ELEC 241: TI LaunchPad for real-time convolution &amp; filtering</a:t>
            </a:r>
            <a:endParaRPr lang="en-US" sz="1150" dirty="0"/>
          </a:p>
        </p:txBody>
      </p:sp>
      <p:pic>
        <p:nvPicPr>
          <p:cNvPr id="25" name="Picture 4" descr="Home - The Sacred Arts of the Black Atlantic">
            <a:extLst>
              <a:ext uri="{FF2B5EF4-FFF2-40B4-BE49-F238E27FC236}">
                <a16:creationId xmlns:a16="http://schemas.microsoft.com/office/drawing/2014/main" id="{C45BCCF6-3031-DF81-64DA-EB213FFA20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Hardware-First Pedagogy with Dual-Tool Pipeline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lab begins with a physical circuit and real measurements. The Arduino Uno R4 serves as both programmable signal source and data acquisition system. MATLAB is reserved for post-processing, visualization, and theoretical verification — never as the primary processing engine.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1298448" cy="1600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Circuit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generation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hardware acquisition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64208" y="3611880"/>
            <a:ext cx="1828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847088" y="2880360"/>
            <a:ext cx="1298448" cy="1600200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847088" y="3017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47088" y="3703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45536" y="3611880"/>
            <a:ext cx="182880" cy="54864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28416" y="2880360"/>
            <a:ext cx="1298448" cy="1600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3017520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Simulink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28416" y="370332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plots,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theory overlay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the Redesign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46304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1463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First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1737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derive theory from measured data, not the reverse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2359152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2359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Parameters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937760" y="26334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bench receives different component values from the TA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54880" y="3255264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37760" y="3255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Evidence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352958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captures + breadboard photos (with student ID) required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4151376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41513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Derivations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937760" y="442569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calculations shown in the student's own handwriting</a:t>
            </a:r>
            <a:endParaRPr lang="en-US" sz="1150" dirty="0"/>
          </a:p>
        </p:txBody>
      </p:sp>
      <p:pic>
        <p:nvPicPr>
          <p:cNvPr id="32" name="Picture 4" descr="Home - The Sacred Arts of the Black Atlantic">
            <a:extLst>
              <a:ext uri="{FF2B5EF4-FFF2-40B4-BE49-F238E27FC236}">
                <a16:creationId xmlns:a16="http://schemas.microsoft.com/office/drawing/2014/main" id="{3DF6A766-0B6A-8D1B-8B47-69960FAC3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Schedule: Old vs. New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MATLAB-only approach vs. proposed Arduino+MATLAB curriculum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6908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(MATLAB / Simulink Only)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78992"/>
            <a:ext cx="4069080" cy="2926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789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(Arduino + MATLAB)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89888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39903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Lab Intro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650492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165963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Music Synthesis Basics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911096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92024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Music Synthesis Enhancements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71700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180844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Open Lab Time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432304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2441448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Introduction to Simulink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692908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70205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Digital Audio Effects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53512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96265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Touch-Tone Phone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214116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22326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Image Processing 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474720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483864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Sampling &amp; Aliasing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735324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744468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Image Processing II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995928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00507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Voice Scrambler / Descrambler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256532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11480" y="426567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AM Radio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517136"/>
            <a:ext cx="4069080" cy="260604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52628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Lab Wrap-up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1389888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139903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Arduino Signal Generator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54880" y="1650492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165963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Signal Transformations in Hardware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1911096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46320" y="192024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System Properties Explorer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2171700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46320" y="2180844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Convolution Machine (DIP + LED)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2432304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0" y="2441448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RC/RL Impulse &amp; Step Response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754880" y="2692908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46320" y="270205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Correlation Distance Sensor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54880" y="2953512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296265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Fourier Series Synthesizer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54880" y="3214116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846320" y="322326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Analog Filter Bank Spectrum Analyzer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754880" y="3474720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46320" y="3483864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Real-Time FIR Filter on Arduino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54880" y="3735324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46320" y="3744468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Sampling &amp; Aliasing Demonstrator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54880" y="3995928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46320" y="4005072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AM Radio Transmitter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754880" y="4256532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46320" y="4265676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AM Radio Receiver &amp; Demodulator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754880" y="4517136"/>
            <a:ext cx="4069080" cy="260604"/>
          </a:xfrm>
          <a:prstGeom prst="rect">
            <a:avLst/>
          </a:prstGeom>
          <a:solidFill>
            <a:srgbClr val="EDF7ED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46320" y="4526280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 Laplace &amp; RLC Circuit Analysis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54880" y="4777740"/>
            <a:ext cx="4069080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B7D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46320" y="4786884"/>
            <a:ext cx="38862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 System Identification Challenge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89120" y="1051560"/>
            <a:ext cx="36576" cy="3977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Picture 4" descr="Home - The Sacred Arts of the Black Atlantic">
            <a:extLst>
              <a:ext uri="{FF2B5EF4-FFF2-40B4-BE49-F238E27FC236}">
                <a16:creationId xmlns:a16="http://schemas.microsoft.com/office/drawing/2014/main" id="{ECB1F393-66E1-7755-CCB8-0FF0C8C808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Lab Curriculum —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hands-on labs aligned to lecture progression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78992"/>
          <a:ext cx="8595360" cy="390906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LLM-Proof Element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Signal Generator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Signals, MATLAB pipeline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freq + scope photo w/ student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Transformations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shift, scaling, reversal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Random-seed signal per student; annotated captures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Properties Explorer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Linearity, causality, stability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circuit photo + hand-written truth tables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 Machine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Convolution sum; DT sequences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of LED + matching MATLAB stem plot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RC/RL Impulse &amp; Step Response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LTI systems; diff. equations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R/C/L per bench; hand derivation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Distance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Cross-correlation; xcorr()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 TA-assigned distances; annotated MATLAB plots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Fourier Series Synthesizer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Harmonic synthesis; FFT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waveform per student; audio recording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Bank Spectrum Analyzer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Bandpass filters; Parseval's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Mystery signal identified from hardware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FIR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 design; Simulink deploy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cutoff; windowed-sinc by hand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&amp; Aliasing Demo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Nyquist theorem; S&amp;H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 predicted by hand before measuring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Radio Transmitter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modulation; sidebands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must show sidebands at predicted locations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 Radio Receiver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detection; demod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receive neighboring team's unique signal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Laplace &amp; RLC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H(s); poles; damping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Resistor grab-bag; hand pole-zero map required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ID Challenge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tfest(); black-box probing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Sealed unknown system — impossible without hardware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6" name="Picture 4" descr="Home - The Sacred Arts of the Black Atlantic">
            <a:extLst>
              <a:ext uri="{FF2B5EF4-FFF2-40B4-BE49-F238E27FC236}">
                <a16:creationId xmlns:a16="http://schemas.microsoft.com/office/drawing/2014/main" id="{5A0940C3-8C21-DD13-1604-44D3B1D0A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LLM-Proofing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interlocking layers — each independently sufficient to deter AI-generated submissions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399032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2527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Evidence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Oscilloscope screenshots + breadboard photos with student ID visible. Cannot be fabricated by any LLM.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910328" y="1399032"/>
            <a:ext cx="384048" cy="384048"/>
          </a:xfrm>
          <a:prstGeom prst="ellipse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0328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252728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Parameters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94960" y="1508760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student/team receives different frequencies, component values, or mystery signals. Answers are not interchangeable.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" y="2514600"/>
            <a:ext cx="384048" cy="384048"/>
          </a:xfrm>
          <a:prstGeom prst="ellipse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97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3682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Calculations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14400" y="262432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derivations must be handwritten (or stylus tablet) using assigned parameters. Not typed, not generated.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258568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910328" y="2514600"/>
            <a:ext cx="384048" cy="38404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032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2368296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94960" y="2624328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labs require in-person TA demos where students explain their circuit and answer follow-up questions on the spot.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374136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" y="3630168"/>
            <a:ext cx="384048" cy="384048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976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34838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Measure-Theory Overlay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3739896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require overlaying measured hardware data with theory and explaining discrepancies — requires real interaction.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374136"/>
            <a:ext cx="4206240" cy="1024128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910328" y="3630168"/>
            <a:ext cx="384048" cy="38404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0328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48386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Challenges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94960" y="3739896"/>
            <a:ext cx="34930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unknown circuits that can only be characterized through physical probing. Unsolvable without the hardware.</a:t>
            </a:r>
            <a:endParaRPr lang="en-US" sz="1050" dirty="0"/>
          </a:p>
        </p:txBody>
      </p:sp>
      <p:pic>
        <p:nvPicPr>
          <p:cNvPr id="36" name="Picture 4" descr="Home - The Sacred Arts of the Black Atlantic">
            <a:extLst>
              <a:ext uri="{FF2B5EF4-FFF2-40B4-BE49-F238E27FC236}">
                <a16:creationId xmlns:a16="http://schemas.microsoft.com/office/drawing/2014/main" id="{C0C347A8-268C-65B5-DF15-50050F19E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&amp; Grading Rubric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Per-bench hardware requirements and updated report scoring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Per Bench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R4 WiFi (built-in 12-bit DAC)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Breadboard, jumper wires, R/C/L assortment kit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2494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Op-amps (LM358 / TL072), AD633 analog multiplier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Electret microphone module + MAX9814 amplifier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0540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 switches (8-pos), pushbuttons, LED bar graph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2-channel oscilloscope, function generator, multimeter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transducer pair (for correlation lab)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Potentiometers (10kΩ), diodes (1N4148), inductors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11155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 Grading (per 100 pts)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444752"/>
          <a:ext cx="4114800" cy="27523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Pre-lab hand calculations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use assigned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 construction &amp; photos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 visible in photo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Measurements &amp; scope captures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Annotated with cursor measurements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Theory vs. measurement comparison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 plots with error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&amp; discussion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discrepancies clearly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exploration (bonus)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+10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experiments; max 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709160" y="4133088"/>
            <a:ext cx="4114800" cy="566928"/>
          </a:xfrm>
          <a:prstGeom prst="rect">
            <a:avLst/>
          </a:prstGeom>
          <a:solidFill>
            <a:srgbClr val="FEF9E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00600" y="41696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current syllabus awards max 93/100 for complete work; the new rubric explicitly rewards independent thought with a +10 bonus, preserving that philosophy while adding hardware accountability.</a:t>
            </a:r>
            <a:endParaRPr lang="en-US" sz="950" dirty="0"/>
          </a:p>
        </p:txBody>
      </p:sp>
      <p:pic>
        <p:nvPicPr>
          <p:cNvPr id="19" name="Picture 4" descr="Home - The Sacred Arts of the Black Atlantic">
            <a:extLst>
              <a:ext uri="{FF2B5EF4-FFF2-40B4-BE49-F238E27FC236}">
                <a16:creationId xmlns:a16="http://schemas.microsoft.com/office/drawing/2014/main" id="{245A4B72-B4F6-994B-3B5B-1FA34EF5C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Course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redesigned lab maps directly to a stated learning objective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73152" cy="868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161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signals &amp; systems with integrated sensing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26280" y="121615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26280" y="137160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1–5: Arduino generator, transformations, system properties, convolution, RC/RL response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30552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130552"/>
            <a:ext cx="73152" cy="868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1762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2331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domain and time domain analysis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26280" y="217627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26280" y="233172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6–9: Correlation sensor, Fourier synthesizer, filter bank analyzer, FIR filter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90672"/>
            <a:ext cx="8412480" cy="868680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090672"/>
            <a:ext cx="73152" cy="868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1363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291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Communication, processing, control, and circuit analysis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26280" y="31363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26280" y="3291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10–12: Sampling demo, AM transmitter &amp; receiver, Laplace/RLC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50792"/>
            <a:ext cx="8412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050792"/>
            <a:ext cx="73152" cy="868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40965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4251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Excitement for upper-level signal processing courses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26280" y="40965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26280" y="42519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14: System ID Challenge — open-ended black-box probing that mirrors real engineering work</a:t>
            </a:r>
            <a:endParaRPr lang="en-US" sz="1100" dirty="0"/>
          </a:p>
        </p:txBody>
      </p:sp>
      <p:pic>
        <p:nvPicPr>
          <p:cNvPr id="30" name="Picture 4" descr="Home - The Sacred Arts of the Black Atlantic">
            <a:extLst>
              <a:ext uri="{FF2B5EF4-FFF2-40B4-BE49-F238E27FC236}">
                <a16:creationId xmlns:a16="http://schemas.microsoft.com/office/drawing/2014/main" id="{D777F4A6-80B9-71FF-D138-F96C9DA07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Considerations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open questions for discussion with the instructional team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4023360" cy="1901952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15568"/>
            <a:ext cx="4023360" cy="256032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133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481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R4 WiFi (~$28 ea.) × number of benches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956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AD633 analog multiplier, op-amps, component kits per station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24323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request should be submitted to ECE Lab Director (Kip Coonley)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15568"/>
            <a:ext cx="4023360" cy="1901952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54880" y="1115568"/>
            <a:ext cx="4023360" cy="25603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1338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Training &amp; Lab Prep Time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1481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 will need hands-on training with Arduino IDE and Simulink Support Package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9568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Pre-lab circuit testing adds ~0.5 hrs prep per lab compared to MATLAB approach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243230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solution sets must include hardware photographs and expected scope captures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27248"/>
            <a:ext cx="4023360" cy="1901952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27248"/>
            <a:ext cx="4023360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Risk Mitigation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" y="3493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failures: maintain a 25% spare inventory per lab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968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sections limited to 3-hr blocks — hardware setup adds ~15 min overhead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" y="4443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policy: hardware labs cannot be fully replicated remotely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127248"/>
            <a:ext cx="4023360" cy="1901952"/>
          </a:xfrm>
          <a:prstGeom prst="rect">
            <a:avLst/>
          </a:prstGeom>
          <a:solidFill>
            <a:srgbClr val="F4F6FA"/>
          </a:solidFill>
          <a:ln w="12700">
            <a:solidFill>
              <a:srgbClr val="D5DD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127248"/>
            <a:ext cx="402336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Option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34930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(Fall 2026): Replace one Labs 1–5 only; evaluate student response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9684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(Spring 2027): Introduce Labs 6–10; Mix with previous approach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44439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(Fall 2027): Full 14-lab curriculum with System ID capstone</a:t>
            </a:r>
            <a:endParaRPr lang="en-US" sz="1100" dirty="0"/>
          </a:p>
        </p:txBody>
      </p:sp>
      <p:pic>
        <p:nvPicPr>
          <p:cNvPr id="30" name="Picture 4" descr="Home - The Sacred Arts of the Black Atlantic">
            <a:extLst>
              <a:ext uri="{FF2B5EF4-FFF2-40B4-BE49-F238E27FC236}">
                <a16:creationId xmlns:a16="http://schemas.microsoft.com/office/drawing/2014/main" id="{65E5B4CD-9013-F4F3-A8EA-005438866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Benchmarking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institutions validating hardware-first Signals &amp; Systems pedagogy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14173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Tech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74520" y="135331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DSP labs with hardware filters and physical circuit construction — foundational model for this redesign.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14173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8541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2560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6.003 / 6.007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30428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Op-amp filter labs and physical sampling demonstrations alongside computational tools. Direct inspiration for Labs 8 and 10.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90672"/>
            <a:ext cx="8503920" cy="804672"/>
          </a:xfrm>
          <a:prstGeom prst="rect">
            <a:avLst/>
          </a:prstGeom>
          <a:solidFill>
            <a:srgbClr val="F4F6FA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14173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31363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 of Illinois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51129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210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74520" y="325526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radio construction as a semester capstone connecting modulation theory directly to practice. Mirrors proposed Labs 11–12.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5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4041648"/>
            <a:ext cx="1417320" cy="80467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408736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University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462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 241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74520" y="42062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LaunchPad-based labs for real-time convolution and filtering. Validates the microcontroller-as-DAQ approach.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88979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cited programs report higher student engagement and stronger performance in subsequent RF/DSP/controls electives compared to simulation-only sections.</a:t>
            </a:r>
            <a:endParaRPr lang="en-US" sz="1000" dirty="0"/>
          </a:p>
        </p:txBody>
      </p:sp>
      <p:pic>
        <p:nvPicPr>
          <p:cNvPr id="27" name="Picture 4" descr="Home - The Sacred Arts of the Black Atlantic">
            <a:extLst>
              <a:ext uri="{FF2B5EF4-FFF2-40B4-BE49-F238E27FC236}">
                <a16:creationId xmlns:a16="http://schemas.microsoft.com/office/drawing/2014/main" id="{B8667E5C-F6FF-534E-35DF-A7B84D4CD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for Discussion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requiring instructor and TA input before finalizing the proposal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43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Procurement: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per-student hardware budget? Are existing lab kits (resistors, caps) reusable, or do we need new assortment kits per bench?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65376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773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Duration: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0482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labs are 1.75-2 hours. Hardware setup adds ~15-30 min. Should we trim lab scope?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96312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496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404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&amp; Make-Up Policy: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6791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labs cannot be replicated at home. How should we handle incapacitation-form absences for the physical circuit labs?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27248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035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Competency &amp; Compensation: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310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proposed labs (Lab 9 FIR, Lab 11 AM) require significant TA hardware proficiency. Will additional training time be compensated?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58184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666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vs. Full Rollout: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94106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adopt all 14 labs in one semester or phase in 5 labs per semester over three semesters? What triggers full adoption?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89120"/>
            <a:ext cx="347472" cy="347472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LLM-Proofing: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we measure whether the new labs actually reduce academic dishonesty? Should we track re-grade and OSC referral rates?</a:t>
            </a:r>
            <a:endParaRPr lang="en-US" sz="1100" dirty="0"/>
          </a:p>
        </p:txBody>
      </p:sp>
      <p:pic>
        <p:nvPicPr>
          <p:cNvPr id="30" name="Picture 4" descr="Home - The Sacred Arts of the Black Atlantic">
            <a:extLst>
              <a:ext uri="{FF2B5EF4-FFF2-40B4-BE49-F238E27FC236}">
                <a16:creationId xmlns:a16="http://schemas.microsoft.com/office/drawing/2014/main" id="{50B39106-6E48-E56C-1C6A-945411257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9875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proposal delivers: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29844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hardware-first labs replacing MATLAB-only curriculum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68249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LLM-proofing strategy that deters AI-generated submissions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0665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alignment to all four stated course objectives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450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approach used by Georgia Tech, MIT, UIUC, and Rice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5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option to manage risk and cost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069080" cy="3657600"/>
          </a:xfrm>
          <a:prstGeom prst="rect">
            <a:avLst/>
          </a:prstGeom>
          <a:solidFill>
            <a:srgbClr val="1E4488"/>
          </a:solidFill>
          <a:ln w="12700">
            <a:solidFill>
              <a:srgbClr val="1E4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98755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25880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70448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TA feedback on lab scope and time estimates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837944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1837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70448" y="1837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hardware budget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350008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350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70448" y="2350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lab manuals for Phase 1 (Labs 1–5)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862072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862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70448" y="2862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training sessions on Arduino + Simulink workflow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374136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33741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70448" y="33741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Phase 1 labs; collect student &amp; TA feedback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914400" cy="274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'25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70448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Phase 2 labs based on pilot outcomes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36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Wanghley Soares Martins et. al.·  ECE 280L Signals &amp; Systems  ·  Duke University</a:t>
            </a:r>
            <a:endParaRPr lang="en-US" sz="900" dirty="0"/>
          </a:p>
        </p:txBody>
      </p:sp>
      <p:pic>
        <p:nvPicPr>
          <p:cNvPr id="31" name="Picture 4" descr="Home - The Sacred Arts of the Black Atlantic">
            <a:extLst>
              <a:ext uri="{FF2B5EF4-FFF2-40B4-BE49-F238E27FC236}">
                <a16:creationId xmlns:a16="http://schemas.microsoft.com/office/drawing/2014/main" id="{EBBDDAC2-80E9-06A7-CB76-C879BC72B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564" y="245549"/>
            <a:ext cx="966116" cy="39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1854</Words>
  <Application>Microsoft Macintosh PowerPoint</Application>
  <PresentationFormat>On-screen Show (16:9)</PresentationFormat>
  <Paragraphs>319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280L Lab Redesign — First Trial Draft</dc:title>
  <dc:subject>PptxGenJS Presentation</dc:subject>
  <dc:creator>wanghley</dc:creator>
  <cp:lastModifiedBy>Wanghley Soares Martins</cp:lastModifiedBy>
  <cp:revision>3</cp:revision>
  <dcterms:created xsi:type="dcterms:W3CDTF">2026-04-27T18:09:13Z</dcterms:created>
  <dcterms:modified xsi:type="dcterms:W3CDTF">2026-04-27T21:02:56Z</dcterms:modified>
</cp:coreProperties>
</file>